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Posts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B2A86"/>
              </a:solidFill>
              <a:effectLst/>
            </c:spPr>
          </c:dPt>
          <c:dPt>
            <c:idx val="1"/>
            <c:bubble3D val="0"/>
            <c:spPr>
              <a:solidFill>
                <a:srgbClr val="F77737"/>
              </a:solidFill>
              <a:effectLst/>
            </c:spPr>
          </c:dPt>
          <c:dPt>
            <c:idx val="2"/>
            <c:bubble3D val="0"/>
            <c:spPr>
              <a:solidFill>
                <a:srgbClr val="FCAF4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VIDEO</c:v>
                </c:pt>
                <c:pt idx="1">
                  <c:v>IMAGE</c:v>
                </c:pt>
                <c:pt idx="2">
                  <c:v>CAROUSEL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109</c:v>
                </c:pt>
                <c:pt idx="1">
                  <c:v>21</c:v>
                </c:pt>
                <c:pt idx="2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914400"/>
            <a:ext cx="1371600" cy="1371600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144" y="1243584"/>
            <a:ext cx="713232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Post Engagement Classification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371600" y="36576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CA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Data &amp; Machine Learning to Understand What Drives Engagement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71600" y="539496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Assignment — Fundamentals of AI and Data Analytics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914400" cy="914400"/>
          </a:xfrm>
          <a:prstGeom prst="ellipse">
            <a:avLst/>
          </a:prstGeom>
          <a:solidFill>
            <a:srgbClr val="FBEAF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6824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1732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13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What we're solving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an Instagram post will get “High” or “Low” engagement (likes), based on media type, posting time, caption length, reach, saves, and views.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383280"/>
            <a:ext cx="914400" cy="914400"/>
          </a:xfrm>
          <a:prstGeom prst="ellipse">
            <a:avLst/>
          </a:prstGeom>
          <a:solidFill>
            <a:srgbClr val="FDEEE3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3602736"/>
            <a:ext cx="475488" cy="4754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0" y="333756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77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Why it matters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drives how many new people Instagram's algorithm shows content to. Understanding what works replaces guessing with evidence.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315200" y="1371600"/>
            <a:ext cx="4297680" cy="4023360"/>
          </a:xfrm>
          <a:prstGeom prst="roundRect">
            <a:avLst>
              <a:gd name="adj" fmla="val 2727"/>
            </a:avLst>
          </a:prstGeom>
          <a:solidFill>
            <a:srgbClr val="F7F5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315200" y="16002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2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</a:t>
            </a:r>
            <a:endParaRPr lang="en-US" sz="5600" dirty="0"/>
          </a:p>
        </p:txBody>
      </p:sp>
      <p:sp>
        <p:nvSpPr>
          <p:cNvPr id="11" name="Text 7"/>
          <p:cNvSpPr/>
          <p:nvPr/>
        </p:nvSpPr>
        <p:spPr>
          <a:xfrm>
            <a:off x="7315200" y="23957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posts analyzed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772400" y="2880360"/>
            <a:ext cx="3383280" cy="0"/>
          </a:xfrm>
          <a:prstGeom prst="line">
            <a:avLst/>
          </a:prstGeom>
          <a:noFill/>
          <a:ln w="12700">
            <a:solidFill>
              <a:srgbClr val="DDD6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315200" y="301752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135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7315200" y="35935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 captured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772400" y="4069080"/>
            <a:ext cx="3383280" cy="0"/>
          </a:xfrm>
          <a:prstGeom prst="line">
            <a:avLst/>
          </a:prstGeom>
          <a:noFill/>
          <a:ln w="12700">
            <a:solidFill>
              <a:srgbClr val="DDD6E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15200" y="42062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777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7315200" y="47365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question to answer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Instagram account data, exported via the Meta Graph API (Jan 2024 – Jul 2026)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BEAF0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17373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7185" y="19129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060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like_count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9718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likes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50876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DEEE3"/>
          </a:solidFill>
          <a:ln/>
        </p:spPr>
      </p:sp>
      <p:sp>
        <p:nvSpPr>
          <p:cNvPr id="10" name="Shape 7"/>
          <p:cNvSpPr/>
          <p:nvPr/>
        </p:nvSpPr>
        <p:spPr>
          <a:xfrm>
            <a:off x="4366260" y="17373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825" y="19129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6060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comments_count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74720" y="29718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comments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50876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3EAFB"/>
          </a:solidFill>
          <a:ln/>
        </p:spPr>
      </p:sp>
      <p:sp>
        <p:nvSpPr>
          <p:cNvPr id="15" name="Shape 11"/>
          <p:cNvSpPr/>
          <p:nvPr/>
        </p:nvSpPr>
        <p:spPr>
          <a:xfrm>
            <a:off x="7200900" y="17373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465" y="191292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6060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/ views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09360" y="29718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reached &amp; views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52560" y="150876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EDE7F6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35540" y="17373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1105" y="191292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52560" y="26060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44000" y="29718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post was saved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3657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Plus: </a:t>
            </a:r>
            <a:pPr indent="0" marL="0">
              <a:buNone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media_type (VIDEO / IMAGE / CAROUSEL_ALBUM), timestamp, caption text, and permalink — 10 columns total, 140 rows.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48640" y="429768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26123A"/>
          </a:solidFill>
          <a:ln/>
        </p:spPr>
      </p:sp>
      <p:sp>
        <p:nvSpPr>
          <p:cNvPr id="26" name="Text 20"/>
          <p:cNvSpPr/>
          <p:nvPr/>
        </p:nvSpPr>
        <p:spPr>
          <a:xfrm>
            <a:off x="91440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A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Types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14400" y="4846320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Numeric: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likes, comments, reach, saved, views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Categorical: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media_type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Date/time: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Quality: Identify &amp; Handle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7F5F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380744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534363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30759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343400" y="1307592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(8), reach (4), saved (4), views (31) — imputed with median; views=0 is structural (non-video posts).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276856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24231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" y="257677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35000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343400" y="2350008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found — checked both full rows and post IDs.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319272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7F5FA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3465576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3619195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392424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Categories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343400" y="3392424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media_type has 3 clean values — no typos found.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4361688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777240" y="450799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" y="4661611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44348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343400" y="4434840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high-performing posts flagged (IQR method) — kept, since virality is the signal being studied.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48640" y="5404104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F7F5FA"/>
          </a:solidFill>
          <a:ln/>
        </p:spPr>
      </p:sp>
      <p:sp>
        <p:nvSpPr>
          <p:cNvPr id="24" name="Shape 18"/>
          <p:cNvSpPr/>
          <p:nvPr/>
        </p:nvSpPr>
        <p:spPr>
          <a:xfrm>
            <a:off x="777240" y="555040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59" y="5704027"/>
            <a:ext cx="332842" cy="33284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00200" y="5477256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Formats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43400" y="5477256"/>
            <a:ext cx="6903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was text → converted to real datetime, enabling hour/weekend features.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Analysis: The Numbers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137160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126.9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4,777.8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3,040.0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5,187.2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5,318.3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2,857.0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8,341.9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Counts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4297680"/>
          <a:ext cx="51206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6400800" y="1143000"/>
            <a:ext cx="5212080" cy="5349240"/>
          </a:xfrm>
          <a:prstGeom prst="roundRect">
            <a:avLst>
              <a:gd name="adj" fmla="val 1754"/>
            </a:avLst>
          </a:prstGeom>
          <a:solidFill>
            <a:srgbClr val="26123A"/>
          </a:solidFill>
          <a:ln/>
        </p:spPr>
      </p:sp>
      <p:sp>
        <p:nvSpPr>
          <p:cNvPr id="7" name="Shape 3"/>
          <p:cNvSpPr/>
          <p:nvPr/>
        </p:nvSpPr>
        <p:spPr>
          <a:xfrm>
            <a:off x="6720840" y="1417320"/>
            <a:ext cx="640080" cy="640080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459" y="1570939"/>
            <a:ext cx="332842" cy="33284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98080" y="14630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A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Statistical Insight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6720840" y="214884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Every metric is right-skewed — mean is well above median across the board.
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Comments show the weakest correlation with likes of any metric — one outlier post with 1,508 comments distorts the relationship.
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Correlation with likes:
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CA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0.91  •  Views 0.75  •  Saved 0.74  •  Comments 0.13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Visualizing the Findings</a:t>
            </a:r>
            <a:endParaRPr lang="en-US" sz="3000" dirty="0"/>
          </a:p>
        </p:txBody>
      </p:sp>
      <p:pic>
        <p:nvPicPr>
          <p:cNvPr id="3" name="Image 0" descr="chart_1_cell32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3657600" cy="2606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749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are right-skewed — a few viral posts pull the mean above the median.</a:t>
            </a:r>
            <a:endParaRPr lang="en-US" sz="1150" dirty="0"/>
          </a:p>
        </p:txBody>
      </p:sp>
      <p:pic>
        <p:nvPicPr>
          <p:cNvPr id="5" name="Image 1" descr="chart_2_cell35.pn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51960" y="1097280"/>
            <a:ext cx="3657600" cy="2606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51960" y="3749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CAROUSEL_ALBUM posts average the most likes (210) — based on 10 posts.</a:t>
            </a:r>
            <a:endParaRPr lang="en-US" sz="1150" dirty="0"/>
          </a:p>
        </p:txBody>
      </p:sp>
      <p:pic>
        <p:nvPicPr>
          <p:cNvPr id="7" name="Image 2" descr="chart_3_cell38.png"/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0" y="1097280"/>
            <a:ext cx="3657600" cy="2606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046720" y="3749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outlier post (1,508 comments) distorts the comments-likes relationship.</a:t>
            </a:r>
            <a:endParaRPr lang="en-US" sz="1150" dirty="0"/>
          </a:p>
        </p:txBody>
      </p:sp>
      <p:sp>
        <p:nvSpPr>
          <p:cNvPr id="9" name="Shape 4"/>
          <p:cNvSpPr/>
          <p:nvPr/>
        </p:nvSpPr>
        <p:spPr>
          <a:xfrm>
            <a:off x="548640" y="4663440"/>
            <a:ext cx="11155680" cy="1554480"/>
          </a:xfrm>
          <a:prstGeom prst="roundRect">
            <a:avLst>
              <a:gd name="adj" fmla="val 5882"/>
            </a:avLst>
          </a:prstGeom>
          <a:solidFill>
            <a:srgbClr val="FBEAF0"/>
          </a:solidFill>
          <a:ln/>
        </p:spPr>
      </p:sp>
      <p:sp>
        <p:nvSpPr>
          <p:cNvPr id="10" name="Shape 5"/>
          <p:cNvSpPr/>
          <p:nvPr/>
        </p:nvSpPr>
        <p:spPr>
          <a:xfrm>
            <a:off x="822960" y="4892040"/>
            <a:ext cx="822960" cy="822960"/>
          </a:xfrm>
          <a:prstGeom prst="ellipse">
            <a:avLst/>
          </a:prstGeom>
          <a:solidFill>
            <a:srgbClr val="E1306C"/>
          </a:solidFill>
          <a:ln/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70" y="5089550"/>
            <a:ext cx="427939" cy="42793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828800" y="484632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three charts show engagement on this account is driven by a small number of standout posts — not a steady, predictable pattern.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6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02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Model: Comparing Six Classifiers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38215A"/>
          </a:solidFill>
          <a:ln/>
        </p:spPr>
      </p:sp>
      <p:sp>
        <p:nvSpPr>
          <p:cNvPr id="6" name="Shape 3"/>
          <p:cNvSpPr/>
          <p:nvPr/>
        </p:nvSpPr>
        <p:spPr>
          <a:xfrm>
            <a:off x="1988820" y="1783080"/>
            <a:ext cx="777240" cy="777240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358" y="1969618"/>
            <a:ext cx="404165" cy="4041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26974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A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predict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77240" y="30632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vs Low engagement (split at the median like count)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343400" y="155448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38215A"/>
          </a:solidFill>
          <a:ln/>
        </p:spPr>
      </p:sp>
      <p:sp>
        <p:nvSpPr>
          <p:cNvPr id="11" name="Shape 7"/>
          <p:cNvSpPr/>
          <p:nvPr/>
        </p:nvSpPr>
        <p:spPr>
          <a:xfrm>
            <a:off x="5783580" y="1783080"/>
            <a:ext cx="777240" cy="777240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0118" y="1969618"/>
            <a:ext cx="404165" cy="40416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26280" y="26974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A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572000" y="30632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(112 posts) / 20% test (28 posts), stratified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138160" y="155448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38215A"/>
          </a:solidFill>
          <a:ln/>
        </p:spPr>
      </p:sp>
      <p:sp>
        <p:nvSpPr>
          <p:cNvPr id="16" name="Shape 11"/>
          <p:cNvSpPr/>
          <p:nvPr/>
        </p:nvSpPr>
        <p:spPr>
          <a:xfrm>
            <a:off x="9578340" y="1783080"/>
            <a:ext cx="777240" cy="777240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4878" y="1969618"/>
            <a:ext cx="404165" cy="40416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21040" y="26974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A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366760" y="306324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Comments, saves, views, caption length, hour, weekend, format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22960" y="4251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compare six models? Engagement could follow threshold-like rules, linear patterns, or distance-based groupings — testing Random Forest, KNN, Logistic Regression, XGBoost, AdaBoost, and SVC side by side reveals which structure actually fits, instead of assuming one.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926080" cy="292608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85.7%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CA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023360" y="173736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13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24 of 28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test posts correctly classified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Precision &amp; Recall: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85.7% each (XGBoost) — most balanced of six models tested
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above the 50% random-guess baseline</a:t>
            </a:r>
            <a:endParaRPr lang="en-US" sz="1400" dirty="0"/>
          </a:p>
        </p:txBody>
      </p:sp>
      <p:pic>
        <p:nvPicPr>
          <p:cNvPr id="7" name="Image 0" descr="chart_4_cell48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55280" y="1280160"/>
            <a:ext cx="3657600" cy="3017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4709160"/>
            <a:ext cx="11155680" cy="1554480"/>
          </a:xfrm>
          <a:prstGeom prst="roundRect">
            <a:avLst>
              <a:gd name="adj" fmla="val 5882"/>
            </a:avLst>
          </a:prstGeom>
          <a:solidFill>
            <a:srgbClr val="F7F5FA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89204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Explanation: </a:t>
            </a:r>
            <a:pPr indent="0" marL="0">
              <a:buNone/>
            </a:pPr>
            <a:r>
              <a:rPr lang="en-US" sz="145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classifiers were compared on the same split — Random Forest, KNN, Logistic Regression, XGBoost, AdaBoost, and SVC. XGBoost came out on top with balanced precision and recall, while SVC collapsed entirely without feature scaling — confirming post-level features carry real, usable signal, but model choice matters.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&amp; What They Mean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BEAF0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3716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15471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32588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median (132), not the mean (165.4), is the realistic “typical” outcome to expect from a post.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3EAFB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25146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5" y="2690165"/>
            <a:ext cx="380390" cy="3803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246888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and views are the strongest, most trustworthy engagement signals — stronger than comments.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352044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DEEE3"/>
          </a:solidFill>
          <a:ln/>
        </p:spPr>
      </p:sp>
      <p:sp>
        <p:nvSpPr>
          <p:cNvPr id="12" name="Shape 8"/>
          <p:cNvSpPr/>
          <p:nvPr/>
        </p:nvSpPr>
        <p:spPr>
          <a:xfrm>
            <a:off x="777240" y="36576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5" y="3833165"/>
            <a:ext cx="380390" cy="3803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37360" y="361188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count alone is unreliable on this account due to one spam-like outlier post.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466344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5B2A86"/>
          </a:solidFill>
          <a:ln/>
        </p:spPr>
      </p:sp>
      <p:sp>
        <p:nvSpPr>
          <p:cNvPr id="16" name="Shape 11"/>
          <p:cNvSpPr/>
          <p:nvPr/>
        </p:nvSpPr>
        <p:spPr>
          <a:xfrm>
            <a:off x="777240" y="48006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5" y="4976165"/>
            <a:ext cx="380390" cy="38039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737360" y="475488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models reliably separate high and low performers, giving a data-backed way to predict a post's potential before posting.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8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1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502920"/>
            <a:ext cx="1188720" cy="1188720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0253" y="788213"/>
            <a:ext cx="618134" cy="6181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745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Conclusion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828800" y="2743200"/>
            <a:ext cx="8503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CA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Engagement on this account is measurable and predictable — not random.
</a:t>
            </a:r>
            <a:endParaRPr lang="en-US" sz="170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E5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Comparing six classifiers, XGBoost reached 85.7% accuracy with the most balanced precision and recall predicting High vs Low engagement from post-level features, using data cleaned and analyzed from scratch.
</a:t>
            </a:r>
            <a:endParaRPr lang="en-US" sz="170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Limitation: </a:t>
            </a:r>
            <a:pPr algn="ctr" indent="0" marL="0">
              <a:buNone/>
            </a:pPr>
            <a:r>
              <a:rPr lang="en-US" sz="1350" dirty="0">
                <a:solidFill>
                  <a:srgbClr val="C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140 posts — this is a strong first baseline, not a mature system.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C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Instagram Post Engagement Classification</dc:title>
  <dc:subject>PptxGenJS Presentation</dc:subject>
  <dc:creator>Instagram Engagement Analysis</dc:creator>
  <cp:lastModifiedBy>Instagram Engagement Analysis</cp:lastModifiedBy>
  <cp:revision>1</cp:revision>
  <dcterms:created xsi:type="dcterms:W3CDTF">2026-07-06T02:04:06Z</dcterms:created>
  <dcterms:modified xsi:type="dcterms:W3CDTF">2026-07-06T02:04:06Z</dcterms:modified>
</cp:coreProperties>
</file>