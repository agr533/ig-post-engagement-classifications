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2A86"/>
              </a:solidFill>
              <a:effectLst/>
            </c:spPr>
          </c:dPt>
          <c:dPt>
            <c:idx val="1"/>
            <c:bubble3D val="0"/>
            <c:spPr>
              <a:solidFill>
                <a:srgbClr val="F77737"/>
              </a:solidFill>
              <a:effectLst/>
            </c:spPr>
          </c:dPt>
          <c:dPt>
            <c:idx val="2"/>
            <c:bubble3D val="0"/>
            <c:spPr>
              <a:solidFill>
                <a:srgbClr val="FCAF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VIDEO</c:v>
                </c:pt>
                <c:pt idx="1">
                  <c:v>IMAGE</c:v>
                </c:pt>
                <c:pt idx="2">
                  <c:v>CAROUSEL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2435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Post Engagement Classification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&amp; Machine Learning to Understand What Drives Engagement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Assignment — Fundamentals of AI and 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914400" cy="914400"/>
          </a:xfrm>
          <a:prstGeom prst="ellipse">
            <a:avLst/>
          </a:prstGeom>
          <a:solidFill>
            <a:srgbClr val="FBEA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173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 Instagram post will get “High” or “Low” engagement (likes), based on posting time, caption length, and media type.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914400" cy="91440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602736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33375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drives how many new people Instagram's algorithm shows content to. Understanding what works replaces guessing with evidence.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F7F5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0" y="1600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5600" dirty="0"/>
          </a:p>
        </p:txBody>
      </p:sp>
      <p:sp>
        <p:nvSpPr>
          <p:cNvPr id="11" name="Text 7"/>
          <p:cNvSpPr/>
          <p:nvPr/>
        </p:nvSpPr>
        <p:spPr>
          <a:xfrm>
            <a:off x="7315200" y="2395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analyzed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0" y="2880360"/>
            <a:ext cx="3383280" cy="0"/>
          </a:xfrm>
          <a:prstGeom prst="line">
            <a:avLst/>
          </a:prstGeom>
          <a:noFill/>
          <a:ln w="12700">
            <a:solidFill>
              <a:srgbClr val="DDD6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0" y="30175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3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7315200" y="3593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 captured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772400" y="4069080"/>
            <a:ext cx="3383280" cy="0"/>
          </a:xfrm>
          <a:prstGeom prst="line">
            <a:avLst/>
          </a:prstGeom>
          <a:noFill/>
          <a:ln w="12700">
            <a:solidFill>
              <a:srgbClr val="DDD6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4206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7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31520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question to answer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Instagram account data, exported via the Instagram Graph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18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like_count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likes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DEEE3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2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comments_count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comments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E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65" y="19129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/ views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reached &amp; views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DE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05" y="19129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post was saved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</a:t>
            </a:r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 (VIDEO / IMAGE / CAROUSEL_ALBUM), timestamp, caption text, and permalink — 10 columns total, 70 rows.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2976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26123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4400" y="484632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comments, reach, saved, views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Identify &amp; Handle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8074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34363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075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43400" y="130759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(6), reach (3), saved (3), views (10) — imputed with median; views=0 is structural (non-video posts).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7685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5767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500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43400" y="2350008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— checked both full rows and post IDs.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1927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46557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619195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39242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343400" y="3392424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 has 3 clean values — no typos found.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36168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5079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661611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434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343400" y="4434840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high-performing posts flagged (IQR method) — kept, since virality is the signal being studied.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4041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550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704027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477256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Formats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43400" y="5477256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was text → converted to real datetime, enabling hour/weekend features.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Analysis: The Numbers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4,184.2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6,281.3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5,745.5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10,522.3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4297680"/>
          <a:ext cx="5120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1143000"/>
            <a:ext cx="5212080" cy="5349240"/>
          </a:xfrm>
          <a:prstGeom prst="roundRect">
            <a:avLst>
              <a:gd name="adj" fmla="val 1754"/>
            </a:avLst>
          </a:prstGeom>
          <a:solidFill>
            <a:srgbClr val="26123A"/>
          </a:solidFill>
          <a:ln/>
        </p:spPr>
      </p:sp>
      <p:sp>
        <p:nvSpPr>
          <p:cNvPr id="7" name="Shape 3"/>
          <p:cNvSpPr/>
          <p:nvPr/>
        </p:nvSpPr>
        <p:spPr>
          <a:xfrm>
            <a:off x="6720840" y="1417320"/>
            <a:ext cx="640080" cy="64008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1570939"/>
            <a:ext cx="332842" cy="3328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Insight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720840" y="21488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right-skewed — mean is well above median across the board.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show the most extreme case: mean (27) is 9× the median (3) — driven almost entirely by one outlier post with 1,508 comments.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likes: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0.92  •  Views 0.85  •  Saved 0.82  •  Comments 0.18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Findings</a:t>
            </a:r>
            <a:endParaRPr lang="en-US" sz="3000" dirty="0"/>
          </a:p>
        </p:txBody>
      </p:sp>
      <p:pic>
        <p:nvPicPr>
          <p:cNvPr id="3" name="Image 0" descr="chart_1_cell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657600" cy="2606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are right-skewed — a few viral posts pull the mean above the median.</a:t>
            </a:r>
            <a:endParaRPr lang="en-US" sz="1150" dirty="0"/>
          </a:p>
        </p:txBody>
      </p:sp>
      <p:pic>
        <p:nvPicPr>
          <p:cNvPr id="5" name="Image 1" descr="chart_2_cell3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097280"/>
            <a:ext cx="3657600" cy="2606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519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CAROUSEL_ALBUM posts average the most likes (151) — based on only 4 posts.</a:t>
            </a:r>
            <a:endParaRPr lang="en-US" sz="1150" dirty="0"/>
          </a:p>
        </p:txBody>
      </p:sp>
      <p:pic>
        <p:nvPicPr>
          <p:cNvPr id="7" name="Image 2" descr="chart_3_cell3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97280"/>
            <a:ext cx="3657600" cy="2606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4672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 post (1,508 comments) distorts the comments-likes relationship.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48640" y="4663440"/>
            <a:ext cx="11155680" cy="1554480"/>
          </a:xfrm>
          <a:prstGeom prst="roundRect">
            <a:avLst>
              <a:gd name="adj" fmla="val 5882"/>
            </a:avLst>
          </a:prstGeom>
          <a:solidFill>
            <a:srgbClr val="FBEAF0"/>
          </a:solidFill>
          <a:ln/>
        </p:spPr>
      </p:sp>
      <p:sp>
        <p:nvSpPr>
          <p:cNvPr id="10" name="Shape 5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5089550"/>
            <a:ext cx="427939" cy="4279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8800" y="48463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charts show engagement on this account is driven by a small number of standout posts — not a steady, predictable pattern.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Decision Tree Classification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6" name="Shape 3"/>
          <p:cNvSpPr/>
          <p:nvPr/>
        </p:nvSpPr>
        <p:spPr>
          <a:xfrm>
            <a:off x="198882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358" y="196961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engagement (split at the median like count)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11" name="Shape 7"/>
          <p:cNvSpPr/>
          <p:nvPr/>
        </p:nvSpPr>
        <p:spPr>
          <a:xfrm>
            <a:off x="578358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8" y="196961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(56 posts) / 20% test (14 posts), stratified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3816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16" name="Shape 11"/>
          <p:cNvSpPr/>
          <p:nvPr/>
        </p:nvSpPr>
        <p:spPr>
          <a:xfrm>
            <a:off x="957834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878" y="196961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saves, views, caption length, hour, weekend, format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Decision Tree? Engagement likely follows threshold-like rules (“if saves are high enough→High”) rather than a smooth straight-line relationship — exactly what this model captures.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926080" cy="29260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14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posts correctly classified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 – 1.00 across both classes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50% random-guess baseline</a:t>
            </a:r>
            <a:endParaRPr lang="en-US" sz="1400" dirty="0"/>
          </a:p>
        </p:txBody>
      </p:sp>
      <p:pic>
        <p:nvPicPr>
          <p:cNvPr id="7" name="Image 0" descr="chart_4_cell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280160"/>
            <a:ext cx="365760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709160"/>
            <a:ext cx="11155680" cy="1554480"/>
          </a:xfrm>
          <a:prstGeom prst="roundRect">
            <a:avLst>
              <a:gd name="adj" fmla="val 5882"/>
            </a:avLst>
          </a:prstGeom>
          <a:solidFill>
            <a:srgbClr val="F7F5F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92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separates High and Low engagement posts almost every time, confirming that post-level features carry real, usable signal — not just noise.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What They Mean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BEAF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5471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325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(103.5), not the mean (137.1), is the realistic “typical” outcome to expect from a post.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3EAFB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69016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468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views are the strongest, most trustworthy engagement signals — stronger than comments.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520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DEEE3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657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83316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611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count alone is unreliable on this account due to one spam-like outlier post.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5B2A86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4800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97616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754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reliably separates high and low performers, giving a data-backed way to predict a post's potential before posting.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502920"/>
            <a:ext cx="1188720" cy="118872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253" y="7882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828800" y="2743200"/>
            <a:ext cx="8503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on this account is measurable and predictable — not random.
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5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model reached 92.9% accuracy predicting High vs Low engagement from post-level features, using data cleaned and analyzed from scratch.
</a:t>
            </a:r>
            <a:endParaRPr lang="en-US" sz="17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algn="ctr" indent="0" marL="0">
              <a:buNone/>
            </a:pPr>
            <a:r>
              <a:rPr lang="en-US" sz="13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70 posts — this is a strong first baseline, not a mature system.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Post Engagement Classification</dc:title>
  <dc:subject>PptxGenJS Presentation</dc:subject>
  <dc:creator>Instagram Engagement Analysis</dc:creator>
  <cp:lastModifiedBy>Instagram Engagement Analysis</cp:lastModifiedBy>
  <cp:revision>1</cp:revision>
  <dcterms:created xsi:type="dcterms:W3CDTF">2026-07-06T02:04:06Z</dcterms:created>
  <dcterms:modified xsi:type="dcterms:W3CDTF">2026-07-06T02:04:06Z</dcterms:modified>
</cp:coreProperties>
</file>